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2D4B"/>
                </a:solidFill>
              </a:defRPr>
            </a:pPr>
            <a:r>
              <a:t>ENTERPRISE AI TOOL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629B"/>
                </a:solidFill>
              </a:defRPr>
            </a:pPr>
            <a:r>
              <a:t>Model Context Protocol (MCP) &amp; MCP Context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3232"/>
                </a:solidFill>
              </a:defRPr>
            </a:pPr>
            <a:r>
              <a:t>A Production-Grade Approach to Scalable, Governed, Agentic AI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D4B"/>
                </a:solidFill>
              </a:defRPr>
            </a:pPr>
            <a:r>
              <a:t>Ruslan Idelfonso Magana Vsevolodovna</a:t>
            </a:r>
          </a:p>
          <a:p>
            <a:pPr algn="ctr">
              <a:defRPr sz="1600">
                <a:solidFill>
                  <a:srgbClr val="323232"/>
                </a:solidFill>
              </a:defRPr>
            </a:pPr>
            <a:r>
              <a:t>Data Scientist &amp; AI Engineer</a:t>
            </a:r>
          </a:p>
          <a:p>
            <a:pPr algn="ctr">
              <a:defRPr sz="1600">
                <a:solidFill>
                  <a:srgbClr val="323232"/>
                </a:solidFill>
              </a:defRPr>
            </a:pPr>
            <a:r>
              <a:t>IBM Client Innovation Center Italy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WHAT YOU WILL LEARN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Why AI systems require standardized tool interfaces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How Model Context Protocol (MCP) addresses this need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What MCP Context Forge provides as a governance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Enterprise capabilities: federation, multi-tenancy, security, and observability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Live demonstration of tool discovery and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THE EVOLUTION OF AI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828800" cy="548640"/>
          </a:xfrm>
          <a:prstGeom prst="roundRect">
            <a:avLst/>
          </a:prstGeom>
          <a:solidFill>
            <a:srgbClr val="32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2020-2022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t>Question Answering</a:t>
            </a:r>
            <a:br/>
            <a:r>
              <a:t>Model → Text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548640"/>
          </a:xfrm>
          <a:prstGeom prst="roundRect">
            <a:avLst/>
          </a:prstGeom>
          <a:solidFill>
            <a:srgbClr val="00629B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2023-2024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t>Tool-Augmented AI</a:t>
            </a:r>
            <a:br/>
            <a:r>
              <a:t>Model → Tools →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828800" cy="548640"/>
          </a:xfrm>
          <a:prstGeom prst="roundRect">
            <a:avLst/>
          </a:prstGeom>
          <a:solidFill>
            <a:srgbClr val="0081C6"/>
          </a:solidFill>
          <a:ln>
            <a:solidFill>
              <a:srgbClr val="008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572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t>Agentic AI Ecosystems</a:t>
            </a:r>
            <a:br/>
            <a:r>
              <a:t>Agents ↔ Services ↔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THE ENTERPRISE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23232"/>
                </a:solidFill>
              </a:defRPr>
            </a:pPr>
            <a:r>
              <a:t>Modern AI systems depend on diverse tool ecosystems: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286000" cy="73152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REST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011680"/>
            <a:ext cx="2286000" cy="73152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Databases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286000" cy="73152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Legacy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2286000" cy="73152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gRPC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108960"/>
            <a:ext cx="2286000" cy="73152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Internal Platforms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08960"/>
            <a:ext cx="2286000" cy="73152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Cloud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323232"/>
                </a:solidFill>
              </a:defRPr>
            </a:pPr>
            <a:r>
              <a:t>Each requires custom integration, authentication, and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PAIN POINTS AT ENTERPRISE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1. TOOL SPRAWL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No central inventory • Duplicate integrations across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2. INCONSISTENT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7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Each integration handles auth differently • No unified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3. OPERATIONAL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No visibility into usage patterns • Cannot disable tools centrally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5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4. VENDOR LOCK-IN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Tight coupling to AI providers • Expensive to switch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AGENTIC AI AMPLIFIES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Traditional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Human in the loop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Fixed tool selection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Supervised execution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Single model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Autonomous operation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Dynamic tool discovery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Multi-agent coordination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Cross-system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29B"/>
                </a:solidFill>
              </a:defRPr>
            </a:pPr>
            <a:r>
              <a:t>Agents need DYNAMIC, GOVERNED tool discovery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INTRODUCING MODEL CONTEXT PROTOCOL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23232"/>
                </a:solidFill>
              </a:defRPr>
            </a:pPr>
            <a:r>
              <a:t>An open standard that defines how AI systems interact with tools, resources, and prompts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743200" cy="914400"/>
          </a:xfrm>
          <a:prstGeom prst="roundRect">
            <a:avLst/>
          </a:prstGeom>
          <a:solidFill>
            <a:srgbClr val="002D4B"/>
          </a:solidFill>
          <a:ln>
            <a:solidFill>
              <a:srgbClr val="00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Client</a:t>
            </a:r>
            <a:br/>
            <a:r>
              <a:t>(Claude, GPT, watsonx)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286000"/>
            <a:ext cx="2286000" cy="914400"/>
          </a:xfrm>
          <a:prstGeom prst="roundRect">
            <a:avLst/>
          </a:prstGeom>
          <a:solidFill>
            <a:srgbClr val="0081C6"/>
          </a:solidFill>
          <a:ln>
            <a:solidFill>
              <a:srgbClr val="008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MCP Protocol</a:t>
            </a:r>
            <a:br/>
            <a:r>
              <a:t>JSON-RPC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286000"/>
            <a:ext cx="1828800" cy="914400"/>
          </a:xfrm>
          <a:prstGeom prst="roundRect">
            <a:avLst/>
          </a:prstGeom>
          <a:solidFill>
            <a:srgbClr val="00629B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MCP Server</a:t>
            </a:r>
            <a:br/>
            <a:r>
              <a:t>(Tools, Resources, Prompts)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57600" y="2606040"/>
            <a:ext cx="457200" cy="27432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400800" y="2606040"/>
            <a:ext cx="457200" cy="27432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629B"/>
                </a:solidFill>
              </a:defRPr>
            </a:pPr>
            <a:r>
              <a:t>Key: Standardized interface, any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MCP CORE CONCEPTS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54864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3716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2D4B"/>
                </a:solidFill>
              </a:defRPr>
            </a:pPr>
            <a:r>
              <a:t>Executable functions with defined schemas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7373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Examples: search_database, send_email, run_query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1828800" cy="54864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7432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2D4B"/>
                </a:solidFill>
              </a:defRPr>
            </a:pPr>
            <a:r>
              <a:t>URI-addressable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1089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Examples: file://config.json, db://users/123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828800" cy="54864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1148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2D4B"/>
                </a:solidFill>
              </a:defRPr>
            </a:pPr>
            <a:r>
              <a:t>Reusable templates with placeholders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4805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Examples: code_review_prompt, summary_template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WHY MCP MATTERS FOR ENTERPRISE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931920" cy="1645920"/>
          </a:xfrm>
          <a:prstGeom prst="roundRect">
            <a:avLst/>
          </a:prstGeom>
          <a:solidFill>
            <a:srgbClr val="F4F4F4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DECOUPLING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Models and tools evolve independently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3931920" cy="1645920"/>
          </a:xfrm>
          <a:prstGeom prst="roundRect">
            <a:avLst/>
          </a:prstGeom>
          <a:solidFill>
            <a:srgbClr val="F4F4F4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8288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REUSABILITY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Build once, use across all AI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3931920" cy="1645920"/>
          </a:xfrm>
          <a:prstGeom prst="roundRect">
            <a:avLst/>
          </a:prstGeom>
          <a:solidFill>
            <a:srgbClr val="F4F4F4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VENDOR FLEXIBILITY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Switch AI providers without rewriting integrations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657600"/>
            <a:ext cx="3931920" cy="1645920"/>
          </a:xfrm>
          <a:prstGeom prst="roundRect">
            <a:avLst/>
          </a:prstGeom>
          <a:solidFill>
            <a:srgbClr val="F4F4F4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8404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FUTURE-PROOF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2976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Ready for agentic workflows and multi-agent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THE MISSING PIECE: CENTRAL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23232"/>
                </a:solidFill>
              </a:defRPr>
            </a:pPr>
            <a:r>
              <a:t>MCP standardizes the interface, but enterprises need answers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2D4B"/>
                </a:solidFill>
              </a:defRPr>
            </a:pPr>
            <a:r>
              <a:t>?  How do we manage dozens of MCP servers?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2D4B"/>
                </a:solidFill>
              </a:defRPr>
            </a:pPr>
            <a:r>
              <a:t>?  How do we enforce consistent security?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2D4B"/>
                </a:solidFill>
              </a:defRPr>
            </a:pPr>
            <a:r>
              <a:t>?  How do we enable/disable tools centrally?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2D4B"/>
                </a:solidFill>
              </a:defRPr>
            </a:pPr>
            <a:r>
              <a:t>?  How do we provide team-based access control?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2D4B"/>
                </a:solidFill>
              </a:defRPr>
            </a:pPr>
            <a:r>
              <a:t>?  How do we monitor and audit tool usage?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29B"/>
                </a:solidFill>
              </a:defRPr>
            </a:pPr>
            <a:r>
              <a:t>This is where MCP Context Forge comes 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INTRODUCING MCP CONTEXT 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2D4B"/>
                </a:solidFill>
              </a:defRPr>
            </a:pPr>
            <a:r>
              <a:t>A production-grade gateway, proxy, and registry for MCP servers and A2A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Gateway &amp; Proxy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Federation across multiple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Virtual server composition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Multi-transport support (SSE, WebSocket, HTTP)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Admin UI for real-time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Enterprise security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29B"/>
                </a:solidFill>
              </a:defRPr>
            </a:pPr>
            <a:r>
              <a:t>Open source: github.com/IBM/mcp-context-forge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5486400" cy="822960"/>
          </a:xfrm>
          <a:prstGeom prst="roundRect">
            <a:avLst/>
          </a:prstGeom>
          <a:solidFill>
            <a:srgbClr val="002D4B"/>
          </a:solidFill>
          <a:ln>
            <a:solidFill>
              <a:srgbClr val="00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Clients / Agents</a:t>
            </a:r>
            <a:br/>
            <a:r>
              <a:t>(Claude, watsonx, GPT, Custom)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2240280"/>
            <a:ext cx="274320" cy="365760"/>
          </a:xfrm>
          <a:prstGeom prst="downArrow">
            <a:avLst/>
          </a:prstGeom>
          <a:solidFill>
            <a:srgbClr val="32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7315200" cy="1645920"/>
          </a:xfrm>
          <a:prstGeom prst="roundRect">
            <a:avLst/>
          </a:prstGeom>
          <a:solidFill>
            <a:srgbClr val="0081C6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MCP CONTEXT FORGE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4747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Registry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4747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4747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Auth &amp;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47472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Metrics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4434840"/>
            <a:ext cx="274320" cy="365760"/>
          </a:xfrm>
          <a:prstGeom prst="downArrow">
            <a:avLst/>
          </a:prstGeom>
          <a:solidFill>
            <a:srgbClr val="32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5029200"/>
            <a:ext cx="1737360" cy="64008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MCP Servers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029200"/>
            <a:ext cx="1737360" cy="64008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REST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5029200"/>
            <a:ext cx="1737360" cy="64008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gRPC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5029200"/>
            <a:ext cx="1737360" cy="64008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Legacy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ENTERPRISE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Aggregate from multiple MCP servers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Peer gateway discovery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Redis-backed coordination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MULTI-TENANCY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9202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Team-based access control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Private/Team/Global visibility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RBAC with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93192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59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JWT, OAuth 2.0, SSO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Multiple IdP support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30+ security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93192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480559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OpenTelemetry integration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Prometheus metrics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Distributed tracing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TOOL LIFECYCLE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286000" cy="9144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REGISTER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17520" y="1965960"/>
            <a:ext cx="365760" cy="27432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286000" cy="9144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ENABLE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60720" y="1965960"/>
            <a:ext cx="365760" cy="27432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286000" cy="9144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286000" cy="914400"/>
          </a:xfrm>
          <a:prstGeom prst="roundRect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INVOKE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3794759"/>
            <a:ext cx="365760" cy="27432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3474720"/>
            <a:ext cx="2286000" cy="914400"/>
          </a:xfrm>
          <a:prstGeom prst="roundRect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0720" y="3794759"/>
            <a:ext cx="365760" cy="27432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2286000" cy="914400"/>
          </a:xfrm>
          <a:prstGeom prst="roundRect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RETIRE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D4B"/>
                </a:solidFill>
              </a:defRPr>
            </a:pPr>
            <a:r>
              <a:t>Full lifecycle visibility and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JWT (HS256/RS256)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OAuth 2.0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SSO/OIDC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Basic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RBAC with roles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Per-resource permissions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Team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29B"/>
                </a:solidFill>
              </a:defRPr>
            </a:pPr>
            <a:r>
              <a:t>SUPPORTED IDENTITY PROVIDERS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1828800" cy="45720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2D4B"/>
                </a:solidFill>
              </a:defRPr>
            </a:pPr>
            <a:r>
              <a:t>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389120"/>
            <a:ext cx="1828800" cy="45720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2D4B"/>
                </a:solidFill>
              </a:defRPr>
            </a:pPr>
            <a:r>
              <a:t>Google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389120"/>
            <a:ext cx="1828800" cy="45720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2D4B"/>
                </a:solidFill>
              </a:defRPr>
            </a:pPr>
            <a:r>
              <a:t>Okta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4389120"/>
            <a:ext cx="1828800" cy="45720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2D4B"/>
                </a:solidFill>
              </a:defRPr>
            </a:pPr>
            <a:r>
              <a:t>Keycloak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828800" cy="45720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2D4B"/>
                </a:solidFill>
              </a:defRPr>
            </a:pPr>
            <a:r>
              <a:t>IBM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5029200"/>
            <a:ext cx="1828800" cy="45720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2D4B"/>
                </a:solidFill>
              </a:defRPr>
            </a:pPr>
            <a:r>
              <a:t>MS Entra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5029200"/>
            <a:ext cx="1828800" cy="45720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2D4B"/>
                </a:solidFill>
              </a:defRPr>
            </a:pPr>
            <a:r>
              <a:t>Generic OIDC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FEDERATION &amp; MULTI-CLUSTER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3657600" cy="822960"/>
          </a:xfrm>
          <a:prstGeom prst="roundRect">
            <a:avLst/>
          </a:prstGeom>
          <a:solidFill>
            <a:srgbClr val="002D4B"/>
          </a:solidFill>
          <a:ln>
            <a:solidFill>
              <a:srgbClr val="00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REDIS CLUSTER</a:t>
            </a:r>
            <a:br/>
            <a:r>
              <a:t>(Coordination Layer)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286000" cy="822960"/>
          </a:xfrm>
          <a:prstGeom prst="roundRect">
            <a:avLst/>
          </a:prstGeom>
          <a:solidFill>
            <a:srgbClr val="00629B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Gateway A</a:t>
            </a:r>
            <a:br/>
            <a:r>
              <a:t>(US-East)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2057400" y="2194560"/>
            <a:ext cx="18288" cy="548640"/>
          </a:xfrm>
          <a:prstGeom prst="lineInv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2743200"/>
            <a:ext cx="2286000" cy="822960"/>
          </a:xfrm>
          <a:prstGeom prst="roundRect">
            <a:avLst/>
          </a:prstGeom>
          <a:solidFill>
            <a:srgbClr val="00629B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Gateway B</a:t>
            </a:r>
            <a:br/>
            <a:r>
              <a:t>(EU-West)</a:t>
            </a:r>
          </a:p>
        </p:txBody>
      </p:sp>
      <p:sp>
        <p:nvSpPr>
          <p:cNvPr id="7" name="Straight Connector 6"/>
          <p:cNvSpPr/>
          <p:nvPr/>
        </p:nvSpPr>
        <p:spPr>
          <a:xfrm>
            <a:off x="4800600" y="2194560"/>
            <a:ext cx="18288" cy="548640"/>
          </a:xfrm>
          <a:prstGeom prst="lineInv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2286000" cy="822960"/>
          </a:xfrm>
          <a:prstGeom prst="roundRect">
            <a:avLst/>
          </a:prstGeom>
          <a:solidFill>
            <a:srgbClr val="00629B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Gateway C</a:t>
            </a:r>
            <a:br/>
            <a:r>
              <a:t>(AP-South)</a:t>
            </a:r>
          </a:p>
        </p:txBody>
      </p:sp>
      <p:sp>
        <p:nvSpPr>
          <p:cNvPr id="9" name="Straight Connector 8"/>
          <p:cNvSpPr/>
          <p:nvPr/>
        </p:nvSpPr>
        <p:spPr>
          <a:xfrm>
            <a:off x="7543800" y="2194560"/>
            <a:ext cx="18288" cy="548640"/>
          </a:xfrm>
          <a:prstGeom prst="lineInv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2286000" cy="8229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Local MCP</a:t>
            </a:r>
            <a:br/>
            <a:r>
              <a:t>Servers</a:t>
            </a:r>
          </a:p>
        </p:txBody>
      </p:sp>
      <p:sp>
        <p:nvSpPr>
          <p:cNvPr id="11" name="Straight Connector 10"/>
          <p:cNvSpPr/>
          <p:nvPr/>
        </p:nvSpPr>
        <p:spPr>
          <a:xfrm>
            <a:off x="2057400" y="3566160"/>
            <a:ext cx="18288" cy="548640"/>
          </a:xfrm>
          <a:prstGeom prst="lineInv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4114800"/>
            <a:ext cx="2286000" cy="8229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Local MCP</a:t>
            </a:r>
            <a:br/>
            <a:r>
              <a:t>Servers</a:t>
            </a:r>
          </a:p>
        </p:txBody>
      </p:sp>
      <p:sp>
        <p:nvSpPr>
          <p:cNvPr id="13" name="Straight Connector 12"/>
          <p:cNvSpPr/>
          <p:nvPr/>
        </p:nvSpPr>
        <p:spPr>
          <a:xfrm>
            <a:off x="4800600" y="3566160"/>
            <a:ext cx="18288" cy="548640"/>
          </a:xfrm>
          <a:prstGeom prst="lineInv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4114800"/>
            <a:ext cx="2286000" cy="8229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D4B"/>
                </a:solidFill>
              </a:defRPr>
            </a:pPr>
            <a:r>
              <a:t>Local MCP</a:t>
            </a:r>
            <a:br/>
            <a:r>
              <a:t>Servers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7543800" y="3566160"/>
            <a:ext cx="18288" cy="548640"/>
          </a:xfrm>
          <a:prstGeom prst="lineInv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29B"/>
                </a:solidFill>
              </a:defRPr>
            </a:pPr>
            <a:r>
              <a:t>Unified tool discovery across all regions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EXTENSIBLE PLUGIN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PRE-INVOKE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Input validation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Access control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PII detection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Rate limiting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POST-INVOKE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Result filtering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Audit logging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Response transform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• Metrics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29B"/>
                </a:solidFill>
              </a:defRPr>
            </a:pPr>
            <a:r>
              <a:t>BUILT-IN PLUGINS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D4B"/>
                </a:solidFill>
              </a:defRPr>
            </a:pPr>
            <a:r>
              <a:t>PII Filter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Detects/masks SSN, emails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D4B"/>
                </a:solidFill>
              </a:defRPr>
            </a:pPr>
            <a:r>
              <a:t>Regex Filter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Pattern transformations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D4B"/>
                </a:solidFill>
              </a:defRPr>
            </a:pPr>
            <a:r>
              <a:t>Deny List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Block specific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D4B"/>
                </a:solidFill>
              </a:defRPr>
            </a:pPr>
            <a:r>
              <a:t>Resource Filter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Size limits, domain blocking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OBSERVABILITY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743200" cy="731520"/>
          </a:xfrm>
          <a:prstGeom prst="roundRect">
            <a:avLst/>
          </a:prstGeom>
          <a:solidFill>
            <a:srgbClr val="002D4B"/>
          </a:solidFill>
          <a:ln>
            <a:solidFill>
              <a:srgbClr val="00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560320" cy="54864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• Jaeger</a:t>
            </a:r>
          </a:p>
          <a:p>
            <a:pPr algn="ctr">
              <a:defRPr sz="1600">
                <a:solidFill>
                  <a:srgbClr val="323232"/>
                </a:solidFill>
              </a:defRPr>
            </a:pPr>
            <a:r>
              <a:t>• Zipkin</a:t>
            </a:r>
          </a:p>
          <a:p>
            <a:pPr algn="ctr">
              <a:defRPr sz="1600">
                <a:solidFill>
                  <a:srgbClr val="323232"/>
                </a:solidFill>
              </a:defRPr>
            </a:pPr>
            <a:r>
              <a:t>• Tempo</a:t>
            </a:r>
          </a:p>
          <a:p>
            <a:pPr algn="ctr">
              <a:defRPr sz="1600">
                <a:solidFill>
                  <a:srgbClr val="323232"/>
                </a:solidFill>
              </a:defRPr>
            </a:pPr>
            <a:r>
              <a:t>• Phoenix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560320"/>
            <a:ext cx="2560320" cy="54864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• Prometheus</a:t>
            </a:r>
          </a:p>
          <a:p>
            <a:pPr algn="ctr">
              <a:defRPr sz="1600">
                <a:solidFill>
                  <a:srgbClr val="323232"/>
                </a:solidFill>
              </a:defRPr>
            </a:pPr>
            <a:r>
              <a:t>• Grafana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560320"/>
            <a:ext cx="2560320" cy="54864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• Structured JSON</a:t>
            </a:r>
          </a:p>
          <a:p>
            <a:pPr algn="ctr">
              <a:defRPr sz="1600">
                <a:solidFill>
                  <a:srgbClr val="323232"/>
                </a:solidFill>
              </a:defRPr>
            </a:pPr>
            <a:r>
              <a:t>• Correlation 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Correlation IDs for end-to-end tracing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LLM-specific metrics (tokens, costs, latency)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Tool invocation metrics and error rates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FLEXIBLE DEPLOYMENT OPTIONS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PYPI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pip install mcp-contextforge-gateway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Quick local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CONTAINER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9202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ghcr.io/ibm/mcp-context-forge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Multi-arch: amd64, arm64, ppc64le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65760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Helm charts with HPA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Network policies,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657600"/>
            <a:ext cx="4114800" cy="457200"/>
          </a:xfrm>
          <a:prstGeom prst="roundRect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IBM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2062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IBM Code Engine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Serverless, auto-scaling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ADMIN UI: REAL-TIME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8229600" cy="4114800"/>
          </a:xfrm>
          <a:prstGeom prst="roundRect">
            <a:avLst/>
          </a:prstGeom>
          <a:solidFill>
            <a:srgbClr val="F4F4F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002D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MCP Context Forge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73736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29B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03120"/>
            <a:ext cx="173736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19456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29B"/>
                </a:solidFill>
              </a:defRPr>
            </a:pPr>
            <a: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432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103120"/>
            <a:ext cx="173736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19456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29B"/>
                </a:solidFill>
              </a:defRPr>
            </a:pPr>
            <a: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432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Resources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103120"/>
            <a:ext cx="173736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9456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29B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Prompts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7680960" cy="16459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D4B"/>
                </a:solidFill>
              </a:defRPr>
            </a:pPr>
            <a:r>
              <a:t>Recent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► search_database invoked (2s ago)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► new_tool registered (5m ago)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► gateway_b connected (10m ago)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Built with HTMX + Alpine.js for responsive updates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1. MCP Context Forge Admin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06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2. Tool Discovery via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3. Tool Governance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4. Federation (if time permits)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KEY OUTCOMES WITH MCP CONTEXT 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29B"/>
                </a:solidFill>
              </a:defRPr>
            </a:pPr>
            <a:r>
              <a:t>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57600" cy="82296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Custom integrations per tool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2103120"/>
            <a:ext cx="731520" cy="274320"/>
          </a:xfrm>
          <a:prstGeom prst="rightArrow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3657600" cy="822960"/>
          </a:xfrm>
          <a:prstGeom prst="roundRect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Standardized protocol for all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3657600" cy="82296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Scattered security configurations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06240" y="3108960"/>
            <a:ext cx="731520" cy="274320"/>
          </a:xfrm>
          <a:prstGeom prst="rightArrow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834640"/>
            <a:ext cx="3657600" cy="822960"/>
          </a:xfrm>
          <a:prstGeom prst="roundRect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Centralized auth and RBAC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657600" cy="82296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No visibility into tool usage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06240" y="4114800"/>
            <a:ext cx="731520" cy="274320"/>
          </a:xfrm>
          <a:prstGeom prst="rightArrow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3840480"/>
            <a:ext cx="3657600" cy="822960"/>
          </a:xfrm>
          <a:prstGeom prst="roundRect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4023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Complete observability and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3657600" cy="822960"/>
          </a:xfrm>
          <a:prstGeom prst="round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Vendor-locked integrations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06240" y="5120640"/>
            <a:ext cx="731520" cy="274320"/>
          </a:xfrm>
          <a:prstGeom prst="rightArrow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0" y="4846320"/>
            <a:ext cx="3657600" cy="822960"/>
          </a:xfrm>
          <a:prstGeom prst="roundRect">
            <a:avLst/>
          </a:prstGeom>
          <a:solidFill>
            <a:srgbClr val="0081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Portable across AI providers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QUICK START (PyPI)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731520"/>
          </a:xfrm>
          <a:prstGeom prst="roundRect">
            <a:avLst/>
          </a:prstGeom>
          <a:solidFill>
            <a:srgbClr val="002D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pip install mcp-contextforge-gateway &amp;&amp; mcpgateway 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QUICK START (Docker)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731520"/>
          </a:xfrm>
          <a:prstGeom prst="roundRect">
            <a:avLst/>
          </a:prstGeom>
          <a:solidFill>
            <a:srgbClr val="002D4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docker run -p 4444:4444 ghcr.io/ibm/mcp-context-forge:latest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29B"/>
                </a:solidFill>
              </a:defRPr>
            </a:pPr>
            <a: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GitHub: github.com/IBM/mcp-context-forge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Documentation: ibm.github.io/mcp-context-forge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PyPI: pypi.org/project/mcp-contextforge-gateway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D4B"/>
                </a:solidFill>
              </a:defRPr>
            </a:pPr>
            <a:r>
              <a:t>SUMMARY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D4B"/>
                </a:solidFill>
              </a:defRPr>
            </a:pPr>
            <a:r>
              <a:t>MCP provides the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Consistent interface for AI-tool interaction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D4B"/>
                </a:solidFill>
              </a:defRPr>
            </a:pPr>
            <a:r>
              <a:t>MCP Context Forge provides the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Centralized governance, security, federation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006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D4B"/>
                </a:solidFill>
              </a:defRPr>
            </a:pPr>
            <a:r>
              <a:t>Together they enable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Production-ready agentic AI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8229600" cy="914400"/>
          </a:xfrm>
          <a:prstGeom prst="roundRect">
            <a:avLst/>
          </a:prstGeom>
          <a:solidFill>
            <a:srgbClr val="F4F4F4"/>
          </a:solidFill>
          <a:ln>
            <a:solidFill>
              <a:srgbClr val="006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2D4B"/>
                </a:solidFill>
              </a:defRPr>
            </a:pPr>
            <a:r>
              <a:t>"Tools become governed, reusable platform assets — not one-off integrations."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81C6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Ruslan Idelfonso Magana Vsevolodovna</a:t>
            </a:r>
          </a:p>
          <a:p>
            <a:pPr algn="ctr">
              <a:defRPr sz="1800">
                <a:solidFill>
                  <a:srgbClr val="F4F4F4"/>
                </a:solidFill>
              </a:defRPr>
            </a:pPr>
            <a:r>
              <a:t>Data Scientist &amp; AI Engineer</a:t>
            </a:r>
          </a:p>
          <a:p>
            <a:pPr algn="ctr">
              <a:defRPr sz="1800">
                <a:solidFill>
                  <a:srgbClr val="F4F4F4"/>
                </a:solidFill>
              </a:defRPr>
            </a:pPr>
            <a:r>
              <a:t>IBM Client Innovation Center Italy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81C6"/>
                </a:solidFill>
              </a:defRPr>
            </a:pPr>
            <a:r>
              <a:t>CONNECT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GitHub: github.com/IBM/mcp-context-forge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Documentation: ibm.github.io/mcp-context-forge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